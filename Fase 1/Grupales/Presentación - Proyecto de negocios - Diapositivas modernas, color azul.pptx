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PrEtNDoHoRjmgQ1JL3e8NcE0T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A20E4-10F5-416C-9836-B645EE7D890D}">
  <a:tblStyle styleId="{F28A20E4-10F5-416C-9836-B645EE7D89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4126c3da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4126c3dae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4126c3da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4126c3dae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b14489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9b144892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126c3da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4126c3dae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b1ea44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9b1ea44d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9b1ea44d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9b1ea44d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9b1ea44d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9b1ea44da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126c3da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4126c3dae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5C69F5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103384" y="-1675084"/>
            <a:ext cx="6000534" cy="3567590"/>
          </a:xfrm>
          <a:custGeom>
            <a:rect b="b" l="l" r="r" t="t"/>
            <a:pathLst>
              <a:path extrusionOk="0"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2741048" y="537816"/>
            <a:ext cx="6000534" cy="3567590"/>
          </a:xfrm>
          <a:custGeom>
            <a:rect b="b" l="l" r="r" t="t"/>
            <a:pathLst>
              <a:path extrusionOk="0"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14180105" y="6181594"/>
            <a:ext cx="6000534" cy="3567590"/>
          </a:xfrm>
          <a:custGeom>
            <a:rect b="b" l="l" r="r" t="t"/>
            <a:pathLst>
              <a:path extrusionOk="0"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10800000">
            <a:off x="12542441" y="8591206"/>
            <a:ext cx="6000534" cy="3567590"/>
          </a:xfrm>
          <a:custGeom>
            <a:rect b="b" l="l" r="r" t="t"/>
            <a:pathLst>
              <a:path extrusionOk="0"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-2904533" y="-494599"/>
            <a:ext cx="5081972" cy="3021463"/>
          </a:xfrm>
          <a:custGeom>
            <a:rect b="b" l="l" r="r" t="t"/>
            <a:pathLst>
              <a:path extrusionOk="0"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-3275713" y="4625635"/>
            <a:ext cx="5081972" cy="3021463"/>
          </a:xfrm>
          <a:custGeom>
            <a:rect b="b" l="l" r="r" t="t"/>
            <a:pathLst>
              <a:path extrusionOk="0"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10800000">
            <a:off x="14960748" y="7760135"/>
            <a:ext cx="5081972" cy="3021463"/>
          </a:xfrm>
          <a:custGeom>
            <a:rect b="b" l="l" r="r" t="t"/>
            <a:pathLst>
              <a:path extrusionOk="0"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10800000">
            <a:off x="16481741" y="2654155"/>
            <a:ext cx="5081972" cy="3021463"/>
          </a:xfrm>
          <a:custGeom>
            <a:rect b="b" l="l" r="r" t="t"/>
            <a:pathLst>
              <a:path extrusionOk="0"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4897158" y="1892508"/>
            <a:ext cx="92532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</a:t>
            </a:r>
            <a:r>
              <a:rPr b="1" lang="en-US" sz="11206">
                <a:solidFill>
                  <a:srgbClr val="FFFFFF"/>
                </a:solidFill>
              </a:rPr>
              <a:t>Fase 1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4897150" y="5141375"/>
            <a:ext cx="9282582" cy="2613779"/>
            <a:chOff x="-183025" y="-9525"/>
            <a:chExt cx="1734900" cy="14106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6880" cy="131540"/>
            </a:xfrm>
            <a:custGeom>
              <a:rect b="b" l="l" r="r" t="t"/>
              <a:pathLst>
                <a:path extrusionOk="0"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-183025" y="-9525"/>
              <a:ext cx="1734900" cy="1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900" lIns="31900" spcFirstLastPara="1" rIns="31900" wrap="square" tIns="31900">
              <a:noAutofit/>
            </a:bodyPr>
            <a:lstStyle/>
            <a:p>
              <a:pPr indent="0" lvl="0" marL="0" marR="0" rtl="0" algn="ctr">
                <a:lnSpc>
                  <a:spcPct val="7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6417537" y="5669763"/>
            <a:ext cx="62418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7">
                <a:solidFill>
                  <a:srgbClr val="E4E5EC"/>
                </a:solidFill>
              </a:rPr>
              <a:t>Sistemas de control y seguimiento de mantención de </a:t>
            </a:r>
            <a:r>
              <a:rPr b="1" lang="en-US" sz="3587">
                <a:solidFill>
                  <a:srgbClr val="E4E5EC"/>
                </a:solidFill>
              </a:rPr>
              <a:t>vehículos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D2D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2725388" y="1695661"/>
            <a:ext cx="1070406" cy="297543"/>
            <a:chOff x="0" y="-9525"/>
            <a:chExt cx="484642" cy="134717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84642" cy="125192"/>
            </a:xfrm>
            <a:custGeom>
              <a:rect b="b" l="l" r="r" t="t"/>
              <a:pathLst>
                <a:path extrusionOk="0"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900" lIns="31900" spcFirstLastPara="1" rIns="31900" wrap="square" tIns="31900">
              <a:noAutofit/>
            </a:bodyPr>
            <a:lstStyle/>
            <a:p>
              <a:pPr indent="0" lvl="0" marL="0" marR="0" rtl="0" algn="ctr">
                <a:lnSpc>
                  <a:spcPct val="7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-178431" y="-230885"/>
            <a:ext cx="18644862" cy="8466714"/>
          </a:xfrm>
          <a:custGeom>
            <a:rect b="b" l="l" r="r" t="t"/>
            <a:pathLst>
              <a:path extrusionOk="0"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20211"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807825" y="884038"/>
            <a:ext cx="16672461" cy="8374317"/>
            <a:chOff x="0" y="-38100"/>
            <a:chExt cx="4391072" cy="2205567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4391072" cy="2167467"/>
            </a:xfrm>
            <a:custGeom>
              <a:rect b="b" l="l" r="r" t="t"/>
              <a:pathLst>
                <a:path extrusionOk="0"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2203933" y="1783375"/>
            <a:ext cx="112626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44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Equipo de trabajo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-651470" y="-757964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-1394806" y="659463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5113293" y="8973379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6027523" y="7552462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13" name="Google Shape;113;p2"/>
          <p:cNvGraphicFramePr/>
          <p:nvPr/>
        </p:nvGraphicFramePr>
        <p:xfrm>
          <a:off x="3003800" y="342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{F28A20E4-10F5-416C-9836-B645EE7D890D}</a:tableStyleId>
              </a:tblPr>
              <a:tblGrid>
                <a:gridCol w="6511875"/>
                <a:gridCol w="6511875"/>
              </a:tblGrid>
              <a:tr h="9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Integrantes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Roles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Eduardo Ortega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Product Owner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Franco Barra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Scrum Master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Benjamín Opazo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Developer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Benjamín Muñoz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2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84">
                          <a:solidFill>
                            <a:srgbClr val="15193E"/>
                          </a:solidFill>
                        </a:rPr>
                        <a:t>Developer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ftly blurred blue background (proporcionado por Getty Images)" id="118" name="Google Shape;11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75" y="503038"/>
            <a:ext cx="17181251" cy="9280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1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1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2" name="Google Shape;122;p11"/>
          <p:cNvCxnSpPr/>
          <p:nvPr/>
        </p:nvCxnSpPr>
        <p:spPr>
          <a:xfrm>
            <a:off x="9116925" y="3027375"/>
            <a:ext cx="27000" cy="5497200"/>
          </a:xfrm>
          <a:prstGeom prst="straightConnector1">
            <a:avLst/>
          </a:prstGeom>
          <a:noFill/>
          <a:ln cap="flat" cmpd="sng" w="38100">
            <a:solidFill>
              <a:srgbClr val="FFB02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11"/>
          <p:cNvGrpSpPr/>
          <p:nvPr/>
        </p:nvGrpSpPr>
        <p:grpSpPr>
          <a:xfrm>
            <a:off x="8652908" y="5296879"/>
            <a:ext cx="955040" cy="955040"/>
            <a:chOff x="0" y="0"/>
            <a:chExt cx="812800" cy="812800"/>
          </a:xfrm>
        </p:grpSpPr>
        <p:sp>
          <p:nvSpPr>
            <p:cNvPr id="124" name="Google Shape;124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1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1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1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1"/>
          <p:cNvSpPr/>
          <p:nvPr/>
        </p:nvSpPr>
        <p:spPr>
          <a:xfrm>
            <a:off x="8921467" y="5462009"/>
            <a:ext cx="417916" cy="624798"/>
          </a:xfrm>
          <a:custGeom>
            <a:rect b="b" l="l" r="r" t="t"/>
            <a:pathLst>
              <a:path extrusionOk="0" h="624798" w="417916">
                <a:moveTo>
                  <a:pt x="0" y="0"/>
                </a:moveTo>
                <a:lnTo>
                  <a:pt x="417916" y="0"/>
                </a:lnTo>
                <a:lnTo>
                  <a:pt x="417916" y="624798"/>
                </a:lnTo>
                <a:lnTo>
                  <a:pt x="0" y="624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1"/>
          <p:cNvSpPr txBox="1"/>
          <p:nvPr/>
        </p:nvSpPr>
        <p:spPr>
          <a:xfrm>
            <a:off x="1639547" y="1437684"/>
            <a:ext cx="6816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CASO</a:t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1728701" y="3027375"/>
            <a:ext cx="5526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50">
                <a:solidFill>
                  <a:schemeClr val="lt1"/>
                </a:solidFill>
                <a:latin typeface="Ultra"/>
                <a:ea typeface="Ultra"/>
                <a:cs typeface="Ultra"/>
                <a:sym typeface="Ultra"/>
              </a:rPr>
              <a:t>PROBLEMA CENTRAL</a:t>
            </a:r>
            <a:endParaRPr b="1" sz="3050">
              <a:solidFill>
                <a:schemeClr val="lt1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10539025" y="3027375"/>
            <a:ext cx="5678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82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SOLUCIÓN</a:t>
            </a:r>
            <a:r>
              <a:rPr b="1" lang="en-US" sz="3082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 PROPUESTA</a:t>
            </a:r>
            <a:endParaRPr sz="2200"/>
          </a:p>
        </p:txBody>
      </p:sp>
      <p:sp>
        <p:nvSpPr>
          <p:cNvPr id="133" name="Google Shape;133;p11"/>
          <p:cNvSpPr txBox="1"/>
          <p:nvPr/>
        </p:nvSpPr>
        <p:spPr>
          <a:xfrm>
            <a:off x="1732800" y="4260275"/>
            <a:ext cx="56784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Falta de una respuesta y comunicación eficaz sobre el estado de los vehículos cuando se encuentran en mantención, reparación o modificación, lo que dificulta la consulta oportuna de su situación.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10149600" y="4260275"/>
            <a:ext cx="66231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Construir un prototipo funcional compuesto por una aplicación web y una aplicación móvil, respaldadas por una base de datos. El desarrollo se realizará de forma iterativa, priorizando un Producto Mínimo Viable (MVP) y utilizando Scrum como marco de trabajo.</a:t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5E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ift key (proporcionado por Getty Images)" id="139" name="Google Shape;1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7175"/>
            <a:ext cx="7987699" cy="10401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7987705" y="0"/>
            <a:ext cx="10401374" cy="10401374"/>
          </a:xfrm>
          <a:custGeom>
            <a:rect b="b" l="l" r="r" t="t"/>
            <a:pathLst>
              <a:path extrusionOk="0"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9"/>
          <p:cNvSpPr/>
          <p:nvPr/>
        </p:nvSpPr>
        <p:spPr>
          <a:xfrm>
            <a:off x="-139536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9"/>
          <p:cNvSpPr/>
          <p:nvPr/>
        </p:nvSpPr>
        <p:spPr>
          <a:xfrm>
            <a:off x="-1214315" y="47922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9"/>
          <p:cNvSpPr/>
          <p:nvPr/>
        </p:nvSpPr>
        <p:spPr>
          <a:xfrm>
            <a:off x="-1000792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9"/>
          <p:cNvSpPr/>
          <p:nvPr/>
        </p:nvSpPr>
        <p:spPr>
          <a:xfrm flipH="1" rot="10800000">
            <a:off x="-139536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9"/>
          <p:cNvSpPr/>
          <p:nvPr/>
        </p:nvSpPr>
        <p:spPr>
          <a:xfrm flipH="1" rot="10800000">
            <a:off x="-1000792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6" name="Google Shape;146;p9"/>
          <p:cNvCxnSpPr/>
          <p:nvPr/>
        </p:nvCxnSpPr>
        <p:spPr>
          <a:xfrm flipH="1">
            <a:off x="9290800" y="722025"/>
            <a:ext cx="40800" cy="9330000"/>
          </a:xfrm>
          <a:prstGeom prst="straightConnector1">
            <a:avLst/>
          </a:prstGeom>
          <a:noFill/>
          <a:ln cap="flat" cmpd="sng" w="38100">
            <a:solidFill>
              <a:srgbClr val="F0F2F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7" name="Google Shape;147;p9"/>
          <p:cNvGrpSpPr/>
          <p:nvPr/>
        </p:nvGrpSpPr>
        <p:grpSpPr>
          <a:xfrm>
            <a:off x="8832312" y="1050804"/>
            <a:ext cx="955040" cy="955040"/>
            <a:chOff x="0" y="0"/>
            <a:chExt cx="812800" cy="812800"/>
          </a:xfrm>
        </p:grpSpPr>
        <p:sp>
          <p:nvSpPr>
            <p:cNvPr id="148" name="Google Shape;148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8854062" y="4867812"/>
            <a:ext cx="955040" cy="955040"/>
            <a:chOff x="0" y="0"/>
            <a:chExt cx="812800" cy="812800"/>
          </a:xfrm>
        </p:grpSpPr>
        <p:sp>
          <p:nvSpPr>
            <p:cNvPr id="151" name="Google Shape;151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9"/>
          <p:cNvGrpSpPr/>
          <p:nvPr/>
        </p:nvGrpSpPr>
        <p:grpSpPr>
          <a:xfrm>
            <a:off x="8854062" y="6219359"/>
            <a:ext cx="955040" cy="955040"/>
            <a:chOff x="0" y="0"/>
            <a:chExt cx="812800" cy="812800"/>
          </a:xfrm>
        </p:grpSpPr>
        <p:sp>
          <p:nvSpPr>
            <p:cNvPr id="154" name="Google Shape;154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8832299" y="7481605"/>
            <a:ext cx="955040" cy="955040"/>
            <a:chOff x="0" y="0"/>
            <a:chExt cx="812800" cy="812800"/>
          </a:xfrm>
        </p:grpSpPr>
        <p:sp>
          <p:nvSpPr>
            <p:cNvPr id="157" name="Google Shape;157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9"/>
          <p:cNvSpPr txBox="1"/>
          <p:nvPr/>
        </p:nvSpPr>
        <p:spPr>
          <a:xfrm>
            <a:off x="823100" y="4617125"/>
            <a:ext cx="6575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chemeClr val="lt1"/>
                </a:solidFill>
                <a:latin typeface="Ultra"/>
                <a:ea typeface="Ultra"/>
                <a:cs typeface="Ultra"/>
                <a:sym typeface="Ultra"/>
              </a:rPr>
              <a:t>OBJETIVOS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0049775" y="1192325"/>
            <a:ext cx="78534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Mejorar el acceso </a:t>
            </a:r>
            <a:r>
              <a:rPr b="1" lang="en-US" sz="2100">
                <a:solidFill>
                  <a:schemeClr val="lt1"/>
                </a:solidFill>
              </a:rPr>
              <a:t>público</a:t>
            </a:r>
            <a:r>
              <a:rPr b="1" lang="en-US" sz="2100">
                <a:solidFill>
                  <a:schemeClr val="lt1"/>
                </a:solidFill>
              </a:rPr>
              <a:t> de la </a:t>
            </a:r>
            <a:r>
              <a:rPr b="1" lang="en-US" sz="2100">
                <a:solidFill>
                  <a:schemeClr val="lt1"/>
                </a:solidFill>
              </a:rPr>
              <a:t>información</a:t>
            </a:r>
            <a:r>
              <a:rPr b="1" lang="en-US" sz="2100">
                <a:solidFill>
                  <a:schemeClr val="lt1"/>
                </a:solidFill>
              </a:rPr>
              <a:t> sobre el estado de los </a:t>
            </a:r>
            <a:r>
              <a:rPr b="1" lang="en-US" sz="2100">
                <a:solidFill>
                  <a:schemeClr val="lt1"/>
                </a:solidFill>
              </a:rPr>
              <a:t>vehículos</a:t>
            </a:r>
            <a:r>
              <a:rPr b="1" lang="en-US" sz="2100">
                <a:solidFill>
                  <a:schemeClr val="lt1"/>
                </a:solidFill>
              </a:rPr>
              <a:t>.</a:t>
            </a:r>
            <a:endParaRPr b="1" sz="210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0049775" y="3552625"/>
            <a:ext cx="78534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Permitir el </a:t>
            </a:r>
            <a:r>
              <a:rPr b="1" lang="en-US" sz="2100">
                <a:solidFill>
                  <a:schemeClr val="lt1"/>
                </a:solidFill>
              </a:rPr>
              <a:t>seguimiento</a:t>
            </a:r>
            <a:r>
              <a:rPr b="1" lang="en-US" sz="2100">
                <a:solidFill>
                  <a:schemeClr val="lt1"/>
                </a:solidFill>
              </a:rPr>
              <a:t> de mantenciones preventivas y reactivas.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0049786" y="6219342"/>
            <a:ext cx="6575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b="1" lang="en-US" sz="2100">
                <a:solidFill>
                  <a:schemeClr val="lt1"/>
                </a:solidFill>
              </a:rPr>
              <a:t>Facilitar la </a:t>
            </a:r>
            <a:r>
              <a:rPr b="1" lang="en-US" sz="2100">
                <a:solidFill>
                  <a:schemeClr val="lt1"/>
                </a:solidFill>
              </a:rPr>
              <a:t>búsqueda</a:t>
            </a:r>
            <a:r>
              <a:rPr b="1" lang="en-US" sz="2100">
                <a:solidFill>
                  <a:schemeClr val="lt1"/>
                </a:solidFill>
              </a:rPr>
              <a:t> de grifos, emergencias y </a:t>
            </a:r>
            <a:r>
              <a:rPr b="1" lang="en-US" sz="2100">
                <a:solidFill>
                  <a:schemeClr val="lt1"/>
                </a:solidFill>
              </a:rPr>
              <a:t>puntos</a:t>
            </a:r>
            <a:r>
              <a:rPr b="1" lang="en-US" sz="2100">
                <a:solidFill>
                  <a:schemeClr val="lt1"/>
                </a:solidFill>
              </a:rPr>
              <a:t> relevantes mediante </a:t>
            </a:r>
            <a:r>
              <a:rPr b="1" lang="en-US" sz="2100">
                <a:solidFill>
                  <a:schemeClr val="lt1"/>
                </a:solidFill>
              </a:rPr>
              <a:t>herramientas</a:t>
            </a:r>
            <a:r>
              <a:rPr b="1" lang="en-US" sz="2100">
                <a:solidFill>
                  <a:schemeClr val="lt1"/>
                </a:solidFill>
              </a:rPr>
              <a:t> de </a:t>
            </a:r>
            <a:r>
              <a:rPr b="1" lang="en-US" sz="2100">
                <a:solidFill>
                  <a:schemeClr val="lt1"/>
                </a:solidFill>
              </a:rPr>
              <a:t>georreferenciación</a:t>
            </a:r>
            <a:r>
              <a:rPr b="1" lang="en-US" sz="2100">
                <a:solidFill>
                  <a:schemeClr val="lt1"/>
                </a:solidFill>
              </a:rPr>
              <a:t>.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0049786" y="7717064"/>
            <a:ext cx="65757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Entregar </a:t>
            </a:r>
            <a:r>
              <a:rPr b="1" lang="en-US" sz="2100">
                <a:solidFill>
                  <a:schemeClr val="lt1"/>
                </a:solidFill>
              </a:rPr>
              <a:t>información</a:t>
            </a:r>
            <a:r>
              <a:rPr b="1" lang="en-US" sz="2100">
                <a:solidFill>
                  <a:schemeClr val="lt1"/>
                </a:solidFill>
              </a:rPr>
              <a:t> mediante una interfaz web y </a:t>
            </a:r>
            <a:r>
              <a:rPr b="1" lang="en-US" sz="2100">
                <a:solidFill>
                  <a:schemeClr val="lt1"/>
                </a:solidFill>
              </a:rPr>
              <a:t>móvil</a:t>
            </a:r>
            <a:r>
              <a:rPr b="1" lang="en-US" sz="2100">
                <a:solidFill>
                  <a:schemeClr val="lt1"/>
                </a:solidFill>
              </a:rPr>
              <a:t> simple, accesible y amigable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48766" y="1343136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01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8970516" y="5123318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</a:t>
            </a: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4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8970516" y="6474864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</a:t>
            </a: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5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8948778" y="7737123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</a:t>
            </a: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6</a:t>
            </a:r>
            <a:endParaRPr/>
          </a:p>
        </p:txBody>
      </p:sp>
      <p:grpSp>
        <p:nvGrpSpPr>
          <p:cNvPr id="168" name="Google Shape;168;p9"/>
          <p:cNvGrpSpPr/>
          <p:nvPr/>
        </p:nvGrpSpPr>
        <p:grpSpPr>
          <a:xfrm>
            <a:off x="8832312" y="3516255"/>
            <a:ext cx="955040" cy="955040"/>
            <a:chOff x="0" y="0"/>
            <a:chExt cx="812800" cy="812800"/>
          </a:xfrm>
        </p:grpSpPr>
        <p:sp>
          <p:nvSpPr>
            <p:cNvPr id="169" name="Google Shape;169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9"/>
          <p:cNvSpPr txBox="1"/>
          <p:nvPr/>
        </p:nvSpPr>
        <p:spPr>
          <a:xfrm>
            <a:off x="8970516" y="3771774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</a:t>
            </a: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3</a:t>
            </a:r>
            <a:endParaRPr/>
          </a:p>
        </p:txBody>
      </p:sp>
      <p:grpSp>
        <p:nvGrpSpPr>
          <p:cNvPr id="172" name="Google Shape;172;p9"/>
          <p:cNvGrpSpPr/>
          <p:nvPr/>
        </p:nvGrpSpPr>
        <p:grpSpPr>
          <a:xfrm>
            <a:off x="8854062" y="2283530"/>
            <a:ext cx="955040" cy="955040"/>
            <a:chOff x="0" y="0"/>
            <a:chExt cx="812800" cy="812800"/>
          </a:xfrm>
        </p:grpSpPr>
        <p:sp>
          <p:nvSpPr>
            <p:cNvPr id="173" name="Google Shape;173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9"/>
          <p:cNvSpPr txBox="1"/>
          <p:nvPr/>
        </p:nvSpPr>
        <p:spPr>
          <a:xfrm>
            <a:off x="8970516" y="2539049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4" u="none" cap="none" strike="noStrike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</a:t>
            </a: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2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10049775" y="2372475"/>
            <a:ext cx="78534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Reducir la dispersión de </a:t>
            </a:r>
            <a:r>
              <a:rPr b="1" lang="en-US" sz="2100">
                <a:solidFill>
                  <a:schemeClr val="lt1"/>
                </a:solidFill>
              </a:rPr>
              <a:t>información</a:t>
            </a:r>
            <a:r>
              <a:rPr b="1" lang="en-US" sz="2100">
                <a:solidFill>
                  <a:schemeClr val="lt1"/>
                </a:solidFill>
              </a:rPr>
              <a:t> mediante una plataforma centralizada.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0049775" y="4885988"/>
            <a:ext cx="78534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Registrar y organizar </a:t>
            </a:r>
            <a:r>
              <a:rPr b="1" lang="en-US" sz="2100">
                <a:solidFill>
                  <a:schemeClr val="lt1"/>
                </a:solidFill>
              </a:rPr>
              <a:t>información</a:t>
            </a:r>
            <a:r>
              <a:rPr b="1" lang="en-US" sz="2100">
                <a:solidFill>
                  <a:schemeClr val="lt1"/>
                </a:solidFill>
              </a:rPr>
              <a:t> de materiales, insumos y mano de obra asociados a las mantenciones.</a:t>
            </a:r>
            <a:endParaRPr sz="2100">
              <a:solidFill>
                <a:schemeClr val="lt1"/>
              </a:solidFill>
            </a:endParaRPr>
          </a:p>
        </p:txBody>
      </p:sp>
      <p:grpSp>
        <p:nvGrpSpPr>
          <p:cNvPr id="178" name="Google Shape;178;p9"/>
          <p:cNvGrpSpPr/>
          <p:nvPr/>
        </p:nvGrpSpPr>
        <p:grpSpPr>
          <a:xfrm>
            <a:off x="8832299" y="8743855"/>
            <a:ext cx="955040" cy="955040"/>
            <a:chOff x="0" y="0"/>
            <a:chExt cx="812800" cy="812800"/>
          </a:xfrm>
        </p:grpSpPr>
        <p:sp>
          <p:nvSpPr>
            <p:cNvPr id="179" name="Google Shape;179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9"/>
          <p:cNvSpPr txBox="1"/>
          <p:nvPr/>
        </p:nvSpPr>
        <p:spPr>
          <a:xfrm>
            <a:off x="8970528" y="8999373"/>
            <a:ext cx="722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84">
                <a:solidFill>
                  <a:srgbClr val="5666F8"/>
                </a:solidFill>
                <a:latin typeface="Ultra"/>
                <a:ea typeface="Ultra"/>
                <a:cs typeface="Ultra"/>
                <a:sym typeface="Ultra"/>
              </a:rPr>
              <a:t>07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0049786" y="8865876"/>
            <a:ext cx="6575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Implementar mecanismos de </a:t>
            </a:r>
            <a:r>
              <a:rPr b="1" lang="en-US" sz="2100">
                <a:solidFill>
                  <a:schemeClr val="lt1"/>
                </a:solidFill>
              </a:rPr>
              <a:t>validación</a:t>
            </a:r>
            <a:r>
              <a:rPr b="1" lang="en-US" sz="2100">
                <a:solidFill>
                  <a:schemeClr val="lt1"/>
                </a:solidFill>
              </a:rPr>
              <a:t> y </a:t>
            </a:r>
            <a:r>
              <a:rPr b="1" lang="en-US" sz="2100">
                <a:solidFill>
                  <a:schemeClr val="lt1"/>
                </a:solidFill>
              </a:rPr>
              <a:t>pruebas</a:t>
            </a:r>
            <a:r>
              <a:rPr b="1" lang="en-US" sz="2100">
                <a:solidFill>
                  <a:schemeClr val="lt1"/>
                </a:solidFill>
              </a:rPr>
              <a:t> que aseguren la funcionalidad, usabilidad y confiabilidad del sistema.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4126c3dae_0_38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g3f4126c3dae_0_38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g3f4126c3dae_0_38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f4126c3dae_0_38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g3f4126c3dae_0_38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g3f4126c3dae_0_38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f4126c3dae_0_38"/>
          <p:cNvSpPr txBox="1"/>
          <p:nvPr/>
        </p:nvSpPr>
        <p:spPr>
          <a:xfrm>
            <a:off x="4274400" y="818325"/>
            <a:ext cx="97392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PLAN DE TRABAJO</a:t>
            </a:r>
            <a:endParaRPr/>
          </a:p>
        </p:txBody>
      </p:sp>
      <p:pic>
        <p:nvPicPr>
          <p:cNvPr id="194" name="Google Shape;194;g3f4126c3dae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8700" y="2277775"/>
            <a:ext cx="14291261" cy="6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126c3dae_0_69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3f4126c3dae_0_69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g3f4126c3dae_0_69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g3f4126c3dae_0_69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f4126c3dae_0_69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3f4126c3dae_0_69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f4126c3dae_0_69"/>
          <p:cNvSpPr txBox="1"/>
          <p:nvPr/>
        </p:nvSpPr>
        <p:spPr>
          <a:xfrm>
            <a:off x="4274400" y="818325"/>
            <a:ext cx="97143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Metodología</a:t>
            </a:r>
            <a:endParaRPr/>
          </a:p>
        </p:txBody>
      </p:sp>
      <p:sp>
        <p:nvSpPr>
          <p:cNvPr id="206" name="Google Shape;206;g3f4126c3dae_0_69"/>
          <p:cNvSpPr txBox="1"/>
          <p:nvPr/>
        </p:nvSpPr>
        <p:spPr>
          <a:xfrm>
            <a:off x="1515175" y="2292650"/>
            <a:ext cx="13755900" cy="6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Se utilizará una </a:t>
            </a:r>
            <a:r>
              <a:rPr b="1" lang="en-US" sz="4100">
                <a:solidFill>
                  <a:schemeClr val="lt1"/>
                </a:solidFill>
              </a:rPr>
              <a:t>metodología ágil basada en Scrum</a:t>
            </a:r>
            <a:r>
              <a:rPr lang="en-US" sz="4100">
                <a:solidFill>
                  <a:schemeClr val="lt1"/>
                </a:solidFill>
              </a:rPr>
              <a:t>. 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Permite: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Dividir  proyecto en etapas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Trabajar mediante Sprints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Priorizar funcionalidades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Obtener avances constantemente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Detectar errores en etapas tempranas</a:t>
            </a:r>
            <a:endParaRPr sz="4100">
              <a:solidFill>
                <a:schemeClr val="lt1"/>
              </a:solidFill>
            </a:endParaRPr>
          </a:p>
          <a:p>
            <a:pPr indent="-488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Char char="●"/>
            </a:pPr>
            <a:r>
              <a:rPr lang="en-US" sz="4100">
                <a:solidFill>
                  <a:schemeClr val="lt1"/>
                </a:solidFill>
              </a:rPr>
              <a:t>Adaptar el proyecto según necesidades</a:t>
            </a:r>
            <a:endParaRPr sz="4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9b144892e_0_3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g3f9b144892e_0_3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f9b144892e_0_3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3f9b144892e_0_3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g3f9b144892e_0_3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g3f9b144892e_0_3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f9b144892e_0_3"/>
          <p:cNvSpPr txBox="1"/>
          <p:nvPr/>
        </p:nvSpPr>
        <p:spPr>
          <a:xfrm>
            <a:off x="4286850" y="451925"/>
            <a:ext cx="97143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TECNOLOGIAS A USAR</a:t>
            </a:r>
            <a:endParaRPr/>
          </a:p>
        </p:txBody>
      </p:sp>
      <p:sp>
        <p:nvSpPr>
          <p:cNvPr id="218" name="Google Shape;218;g3f9b144892e_0_3"/>
          <p:cNvSpPr txBox="1"/>
          <p:nvPr/>
        </p:nvSpPr>
        <p:spPr>
          <a:xfrm>
            <a:off x="179450" y="3229650"/>
            <a:ext cx="6678600" cy="28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4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Tecnologías y herramientas que se utilizarán para impulsar el sistema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g3f9b144892e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600" y="2452125"/>
            <a:ext cx="8995788" cy="71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5E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2"/>
          <p:cNvSpPr/>
          <p:nvPr/>
        </p:nvSpPr>
        <p:spPr>
          <a:xfrm flipH="1">
            <a:off x="15626102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2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2"/>
          <p:cNvSpPr/>
          <p:nvPr/>
        </p:nvSpPr>
        <p:spPr>
          <a:xfrm flipH="1">
            <a:off x="16559302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2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2"/>
          <p:cNvSpPr/>
          <p:nvPr/>
        </p:nvSpPr>
        <p:spPr>
          <a:xfrm flipH="1">
            <a:off x="16772825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2"/>
          <p:cNvSpPr/>
          <p:nvPr/>
        </p:nvSpPr>
        <p:spPr>
          <a:xfrm>
            <a:off x="0" y="9416472"/>
            <a:ext cx="18288000" cy="870528"/>
          </a:xfrm>
          <a:custGeom>
            <a:rect b="b" l="l" r="r" t="t"/>
            <a:pathLst>
              <a:path extrusionOk="0"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2000839"/>
            </a:stretch>
          </a:blipFill>
          <a:ln>
            <a:noFill/>
          </a:ln>
        </p:spPr>
      </p:sp>
      <p:sp>
        <p:nvSpPr>
          <p:cNvPr id="231" name="Google Shape;231;p12"/>
          <p:cNvSpPr txBox="1"/>
          <p:nvPr/>
        </p:nvSpPr>
        <p:spPr>
          <a:xfrm>
            <a:off x="3339150" y="451925"/>
            <a:ext cx="11609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MODELO RELACIONAL</a:t>
            </a:r>
            <a:endParaRPr/>
          </a:p>
        </p:txBody>
      </p:sp>
      <p:pic>
        <p:nvPicPr>
          <p:cNvPr id="232" name="Google Shape;232;p12" title="modelo_relacional_v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1900" y="1279227"/>
            <a:ext cx="12845488" cy="796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4126c3dae_0_79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g3f4126c3dae_0_79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g3f4126c3dae_0_79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g3f4126c3dae_0_79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g3f4126c3dae_0_79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g3f4126c3dae_0_79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g3f4126c3dae_0_79"/>
          <p:cNvSpPr txBox="1"/>
          <p:nvPr/>
        </p:nvSpPr>
        <p:spPr>
          <a:xfrm>
            <a:off x="3754050" y="451925"/>
            <a:ext cx="107799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0F2FD"/>
                </a:solidFill>
                <a:latin typeface="Ultra"/>
                <a:ea typeface="Ultra"/>
                <a:cs typeface="Ultra"/>
                <a:sym typeface="Ultra"/>
              </a:rPr>
              <a:t>DIAGRAMA DE ARQUITECTURA</a:t>
            </a:r>
            <a:endParaRPr/>
          </a:p>
        </p:txBody>
      </p:sp>
      <p:pic>
        <p:nvPicPr>
          <p:cNvPr id="244" name="Google Shape;244;g3f4126c3dae_0_79" title="arquitectura_v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550" y="2303525"/>
            <a:ext cx="12698691" cy="75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D2D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g3f9b1ea44da_0_2"/>
          <p:cNvGrpSpPr/>
          <p:nvPr/>
        </p:nvGrpSpPr>
        <p:grpSpPr>
          <a:xfrm>
            <a:off x="2725388" y="1695660"/>
            <a:ext cx="1070429" cy="297549"/>
            <a:chOff x="0" y="-9525"/>
            <a:chExt cx="484642" cy="134717"/>
          </a:xfrm>
        </p:grpSpPr>
        <p:sp>
          <p:nvSpPr>
            <p:cNvPr id="250" name="Google Shape;250;g3f9b1ea44da_0_2"/>
            <p:cNvSpPr/>
            <p:nvPr/>
          </p:nvSpPr>
          <p:spPr>
            <a:xfrm>
              <a:off x="0" y="0"/>
              <a:ext cx="484642" cy="125192"/>
            </a:xfrm>
            <a:custGeom>
              <a:rect b="b" l="l" r="r" t="t"/>
              <a:pathLst>
                <a:path extrusionOk="0"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f9b1ea44da_0_2"/>
            <p:cNvSpPr txBox="1"/>
            <p:nvPr/>
          </p:nvSpPr>
          <p:spPr>
            <a:xfrm>
              <a:off x="0" y="-9525"/>
              <a:ext cx="484500" cy="1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900" lIns="31900" spcFirstLastPara="1" rIns="31900" wrap="square" tIns="31900">
              <a:noAutofit/>
            </a:bodyPr>
            <a:lstStyle/>
            <a:p>
              <a:pPr indent="0" lvl="0" marL="0" marR="0" rtl="0" algn="ctr">
                <a:lnSpc>
                  <a:spcPct val="7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g3f9b1ea44da_0_2"/>
          <p:cNvSpPr/>
          <p:nvPr/>
        </p:nvSpPr>
        <p:spPr>
          <a:xfrm>
            <a:off x="-178431" y="-230885"/>
            <a:ext cx="18644862" cy="8466714"/>
          </a:xfrm>
          <a:custGeom>
            <a:rect b="b" l="l" r="r" t="t"/>
            <a:pathLst>
              <a:path extrusionOk="0"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20211"/>
            </a:stretch>
          </a:blipFill>
          <a:ln>
            <a:noFill/>
          </a:ln>
        </p:spPr>
      </p:sp>
      <p:grpSp>
        <p:nvGrpSpPr>
          <p:cNvPr id="253" name="Google Shape;253;g3f9b1ea44da_0_2"/>
          <p:cNvGrpSpPr/>
          <p:nvPr/>
        </p:nvGrpSpPr>
        <p:grpSpPr>
          <a:xfrm>
            <a:off x="807825" y="-91349"/>
            <a:ext cx="16672568" cy="9349759"/>
            <a:chOff x="0" y="-38100"/>
            <a:chExt cx="4391100" cy="2205600"/>
          </a:xfrm>
        </p:grpSpPr>
        <p:sp>
          <p:nvSpPr>
            <p:cNvPr id="254" name="Google Shape;254;g3f9b1ea44da_0_2"/>
            <p:cNvSpPr/>
            <p:nvPr/>
          </p:nvSpPr>
          <p:spPr>
            <a:xfrm>
              <a:off x="0" y="0"/>
              <a:ext cx="4391072" cy="2167467"/>
            </a:xfrm>
            <a:custGeom>
              <a:rect b="b" l="l" r="r" t="t"/>
              <a:pathLst>
                <a:path extrusionOk="0"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f9b1ea44da_0_2"/>
            <p:cNvSpPr txBox="1"/>
            <p:nvPr/>
          </p:nvSpPr>
          <p:spPr>
            <a:xfrm>
              <a:off x="0" y="-38100"/>
              <a:ext cx="4391100" cy="2205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g3f9b1ea44da_0_2"/>
          <p:cNvSpPr txBox="1"/>
          <p:nvPr/>
        </p:nvSpPr>
        <p:spPr>
          <a:xfrm>
            <a:off x="2725408" y="200113"/>
            <a:ext cx="112626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44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MOCKUPS: INICIO</a:t>
            </a:r>
            <a:endParaRPr/>
          </a:p>
        </p:txBody>
      </p:sp>
      <p:sp>
        <p:nvSpPr>
          <p:cNvPr id="257" name="Google Shape;257;g3f9b1ea44da_0_2"/>
          <p:cNvSpPr/>
          <p:nvPr/>
        </p:nvSpPr>
        <p:spPr>
          <a:xfrm>
            <a:off x="-651470" y="-757964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f9b1ea44da_0_2"/>
          <p:cNvSpPr/>
          <p:nvPr/>
        </p:nvSpPr>
        <p:spPr>
          <a:xfrm>
            <a:off x="-1394806" y="659463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g3f9b1ea44da_0_2"/>
          <p:cNvSpPr/>
          <p:nvPr/>
        </p:nvSpPr>
        <p:spPr>
          <a:xfrm>
            <a:off x="15113293" y="8973379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g3f9b1ea44da_0_2"/>
          <p:cNvSpPr/>
          <p:nvPr/>
        </p:nvSpPr>
        <p:spPr>
          <a:xfrm>
            <a:off x="16027523" y="7552462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g3f9b1ea44da_0_2" title="INIC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681" y="1415275"/>
            <a:ext cx="15058033" cy="84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D2D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g3f9b1ea44da_0_34"/>
          <p:cNvGrpSpPr/>
          <p:nvPr/>
        </p:nvGrpSpPr>
        <p:grpSpPr>
          <a:xfrm>
            <a:off x="2725388" y="1695660"/>
            <a:ext cx="1070429" cy="297549"/>
            <a:chOff x="0" y="-9525"/>
            <a:chExt cx="484642" cy="134717"/>
          </a:xfrm>
        </p:grpSpPr>
        <p:sp>
          <p:nvSpPr>
            <p:cNvPr id="267" name="Google Shape;267;g3f9b1ea44da_0_34"/>
            <p:cNvSpPr/>
            <p:nvPr/>
          </p:nvSpPr>
          <p:spPr>
            <a:xfrm>
              <a:off x="0" y="0"/>
              <a:ext cx="484642" cy="125192"/>
            </a:xfrm>
            <a:custGeom>
              <a:rect b="b" l="l" r="r" t="t"/>
              <a:pathLst>
                <a:path extrusionOk="0"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f9b1ea44da_0_34"/>
            <p:cNvSpPr txBox="1"/>
            <p:nvPr/>
          </p:nvSpPr>
          <p:spPr>
            <a:xfrm>
              <a:off x="0" y="-9525"/>
              <a:ext cx="484500" cy="1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900" lIns="31900" spcFirstLastPara="1" rIns="31900" wrap="square" tIns="31900">
              <a:noAutofit/>
            </a:bodyPr>
            <a:lstStyle/>
            <a:p>
              <a:pPr indent="0" lvl="0" marL="0" marR="0" rtl="0" algn="ctr">
                <a:lnSpc>
                  <a:spcPct val="7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f9b1ea44da_0_34"/>
          <p:cNvSpPr/>
          <p:nvPr/>
        </p:nvSpPr>
        <p:spPr>
          <a:xfrm>
            <a:off x="-178431" y="-230885"/>
            <a:ext cx="18644862" cy="8466714"/>
          </a:xfrm>
          <a:custGeom>
            <a:rect b="b" l="l" r="r" t="t"/>
            <a:pathLst>
              <a:path extrusionOk="0"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20211"/>
            </a:stretch>
          </a:blipFill>
          <a:ln>
            <a:noFill/>
          </a:ln>
        </p:spPr>
      </p:sp>
      <p:grpSp>
        <p:nvGrpSpPr>
          <p:cNvPr id="270" name="Google Shape;270;g3f9b1ea44da_0_34"/>
          <p:cNvGrpSpPr/>
          <p:nvPr/>
        </p:nvGrpSpPr>
        <p:grpSpPr>
          <a:xfrm>
            <a:off x="807825" y="-91349"/>
            <a:ext cx="16672568" cy="9349759"/>
            <a:chOff x="0" y="-38100"/>
            <a:chExt cx="4391100" cy="2205600"/>
          </a:xfrm>
        </p:grpSpPr>
        <p:sp>
          <p:nvSpPr>
            <p:cNvPr id="271" name="Google Shape;271;g3f9b1ea44da_0_34"/>
            <p:cNvSpPr/>
            <p:nvPr/>
          </p:nvSpPr>
          <p:spPr>
            <a:xfrm>
              <a:off x="0" y="0"/>
              <a:ext cx="4391072" cy="2167467"/>
            </a:xfrm>
            <a:custGeom>
              <a:rect b="b" l="l" r="r" t="t"/>
              <a:pathLst>
                <a:path extrusionOk="0"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g3f9b1ea44da_0_34"/>
            <p:cNvSpPr txBox="1"/>
            <p:nvPr/>
          </p:nvSpPr>
          <p:spPr>
            <a:xfrm>
              <a:off x="0" y="-38100"/>
              <a:ext cx="4391100" cy="2205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f9b1ea44da_0_34"/>
          <p:cNvSpPr txBox="1"/>
          <p:nvPr/>
        </p:nvSpPr>
        <p:spPr>
          <a:xfrm>
            <a:off x="2725408" y="221863"/>
            <a:ext cx="112626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44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MOCKUPS: LOGIN</a:t>
            </a:r>
            <a:endParaRPr/>
          </a:p>
        </p:txBody>
      </p:sp>
      <p:sp>
        <p:nvSpPr>
          <p:cNvPr id="274" name="Google Shape;274;g3f9b1ea44da_0_34"/>
          <p:cNvSpPr/>
          <p:nvPr/>
        </p:nvSpPr>
        <p:spPr>
          <a:xfrm>
            <a:off x="-651470" y="-757964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f9b1ea44da_0_34"/>
          <p:cNvSpPr/>
          <p:nvPr/>
        </p:nvSpPr>
        <p:spPr>
          <a:xfrm>
            <a:off x="-1394806" y="659463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g3f9b1ea44da_0_34"/>
          <p:cNvSpPr/>
          <p:nvPr/>
        </p:nvSpPr>
        <p:spPr>
          <a:xfrm>
            <a:off x="15113293" y="8973379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g3f9b1ea44da_0_34"/>
          <p:cNvSpPr/>
          <p:nvPr/>
        </p:nvSpPr>
        <p:spPr>
          <a:xfrm>
            <a:off x="16027523" y="7552462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78" name="Google Shape;278;g3f9b1ea44da_0_34" title="LOGI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1637" y="1280700"/>
            <a:ext cx="15564951" cy="875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D2D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g3f9b1ea44da_0_50"/>
          <p:cNvGrpSpPr/>
          <p:nvPr/>
        </p:nvGrpSpPr>
        <p:grpSpPr>
          <a:xfrm>
            <a:off x="2725388" y="1695660"/>
            <a:ext cx="1070429" cy="297549"/>
            <a:chOff x="0" y="-9525"/>
            <a:chExt cx="484642" cy="134717"/>
          </a:xfrm>
        </p:grpSpPr>
        <p:sp>
          <p:nvSpPr>
            <p:cNvPr id="284" name="Google Shape;284;g3f9b1ea44da_0_50"/>
            <p:cNvSpPr/>
            <p:nvPr/>
          </p:nvSpPr>
          <p:spPr>
            <a:xfrm>
              <a:off x="0" y="0"/>
              <a:ext cx="484642" cy="125192"/>
            </a:xfrm>
            <a:custGeom>
              <a:rect b="b" l="l" r="r" t="t"/>
              <a:pathLst>
                <a:path extrusionOk="0"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g3f9b1ea44da_0_50"/>
            <p:cNvSpPr txBox="1"/>
            <p:nvPr/>
          </p:nvSpPr>
          <p:spPr>
            <a:xfrm>
              <a:off x="0" y="-9525"/>
              <a:ext cx="484500" cy="1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900" lIns="31900" spcFirstLastPara="1" rIns="31900" wrap="square" tIns="31900">
              <a:noAutofit/>
            </a:bodyPr>
            <a:lstStyle/>
            <a:p>
              <a:pPr indent="0" lvl="0" marL="0" marR="0" rtl="0" algn="ctr">
                <a:lnSpc>
                  <a:spcPct val="7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g3f9b1ea44da_0_50"/>
          <p:cNvSpPr/>
          <p:nvPr/>
        </p:nvSpPr>
        <p:spPr>
          <a:xfrm>
            <a:off x="-178431" y="-230885"/>
            <a:ext cx="18644862" cy="8466714"/>
          </a:xfrm>
          <a:custGeom>
            <a:rect b="b" l="l" r="r" t="t"/>
            <a:pathLst>
              <a:path extrusionOk="0"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20211"/>
            </a:stretch>
          </a:blipFill>
          <a:ln>
            <a:noFill/>
          </a:ln>
        </p:spPr>
      </p:sp>
      <p:grpSp>
        <p:nvGrpSpPr>
          <p:cNvPr id="287" name="Google Shape;287;g3f9b1ea44da_0_50"/>
          <p:cNvGrpSpPr/>
          <p:nvPr/>
        </p:nvGrpSpPr>
        <p:grpSpPr>
          <a:xfrm>
            <a:off x="807825" y="-91349"/>
            <a:ext cx="16672568" cy="9349759"/>
            <a:chOff x="0" y="-38100"/>
            <a:chExt cx="4391100" cy="2205600"/>
          </a:xfrm>
        </p:grpSpPr>
        <p:sp>
          <p:nvSpPr>
            <p:cNvPr id="288" name="Google Shape;288;g3f9b1ea44da_0_50"/>
            <p:cNvSpPr/>
            <p:nvPr/>
          </p:nvSpPr>
          <p:spPr>
            <a:xfrm>
              <a:off x="0" y="0"/>
              <a:ext cx="4391072" cy="2167467"/>
            </a:xfrm>
            <a:custGeom>
              <a:rect b="b" l="l" r="r" t="t"/>
              <a:pathLst>
                <a:path extrusionOk="0"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g3f9b1ea44da_0_50"/>
            <p:cNvSpPr txBox="1"/>
            <p:nvPr/>
          </p:nvSpPr>
          <p:spPr>
            <a:xfrm>
              <a:off x="0" y="-38100"/>
              <a:ext cx="4391100" cy="2205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f9b1ea44da_0_50"/>
          <p:cNvSpPr txBox="1"/>
          <p:nvPr/>
        </p:nvSpPr>
        <p:spPr>
          <a:xfrm>
            <a:off x="2725408" y="178388"/>
            <a:ext cx="112626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44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MOCKUPS: REGISTRO</a:t>
            </a:r>
            <a:endParaRPr/>
          </a:p>
        </p:txBody>
      </p:sp>
      <p:sp>
        <p:nvSpPr>
          <p:cNvPr id="291" name="Google Shape;291;g3f9b1ea44da_0_50"/>
          <p:cNvSpPr/>
          <p:nvPr/>
        </p:nvSpPr>
        <p:spPr>
          <a:xfrm>
            <a:off x="-651470" y="-757964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g3f9b1ea44da_0_50"/>
          <p:cNvSpPr/>
          <p:nvPr/>
        </p:nvSpPr>
        <p:spPr>
          <a:xfrm>
            <a:off x="-1394806" y="659463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g3f9b1ea44da_0_50"/>
          <p:cNvSpPr/>
          <p:nvPr/>
        </p:nvSpPr>
        <p:spPr>
          <a:xfrm>
            <a:off x="15113293" y="8973379"/>
            <a:ext cx="3484317" cy="2071585"/>
          </a:xfrm>
          <a:custGeom>
            <a:rect b="b" l="l" r="r" t="t"/>
            <a:pathLst>
              <a:path extrusionOk="0"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g3f9b1ea44da_0_50"/>
          <p:cNvSpPr/>
          <p:nvPr/>
        </p:nvSpPr>
        <p:spPr>
          <a:xfrm>
            <a:off x="16027523" y="7552462"/>
            <a:ext cx="3655283" cy="2173232"/>
          </a:xfrm>
          <a:custGeom>
            <a:rect b="b" l="l" r="r" t="t"/>
            <a:pathLst>
              <a:path extrusionOk="0"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95" name="Google Shape;295;g3f9b1ea44da_0_50" title="REGISTR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3525" y="1172325"/>
            <a:ext cx="15332877" cy="86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3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/>
          <p:nvPr/>
        </p:nvSpPr>
        <p:spPr>
          <a:xfrm>
            <a:off x="-127795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7"/>
          <p:cNvSpPr/>
          <p:nvPr/>
        </p:nvSpPr>
        <p:spPr>
          <a:xfrm>
            <a:off x="-1060994" y="451930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7"/>
          <p:cNvSpPr/>
          <p:nvPr/>
        </p:nvSpPr>
        <p:spPr>
          <a:xfrm>
            <a:off x="-847471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7"/>
          <p:cNvSpPr txBox="1"/>
          <p:nvPr/>
        </p:nvSpPr>
        <p:spPr>
          <a:xfrm>
            <a:off x="1639547" y="1437684"/>
            <a:ext cx="6816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PASOS A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639547" y="2264664"/>
            <a:ext cx="6816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B02C"/>
                </a:solidFill>
                <a:latin typeface="Ultra"/>
                <a:ea typeface="Ultra"/>
                <a:cs typeface="Ultra"/>
                <a:sym typeface="Ultra"/>
              </a:rPr>
              <a:t>SEGUIR</a:t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 rot="10800000">
            <a:off x="15682795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7"/>
          <p:cNvSpPr/>
          <p:nvPr/>
        </p:nvSpPr>
        <p:spPr>
          <a:xfrm rot="10800000">
            <a:off x="16559302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7"/>
          <p:cNvSpPr/>
          <p:nvPr/>
        </p:nvSpPr>
        <p:spPr>
          <a:xfrm rot="10800000">
            <a:off x="16772825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8" name="Google Shape;30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625" y="451937"/>
            <a:ext cx="8732100" cy="890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09" name="Google Shape;309;p7" title="istockphoto-1441331145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250" y="3510850"/>
            <a:ext cx="5765100" cy="4723500"/>
          </a:xfrm>
          <a:prstGeom prst="rightArrow">
            <a:avLst>
              <a:gd fmla="val 50000" name="adj1"/>
              <a:gd fmla="val 5000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5E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e with Circuitry (proporcionado por Getty Images)" id="314" name="Google Shape;31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1900" y="0"/>
            <a:ext cx="7346101" cy="10287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14"/>
          <p:cNvGrpSpPr/>
          <p:nvPr/>
        </p:nvGrpSpPr>
        <p:grpSpPr>
          <a:xfrm>
            <a:off x="-455448" y="3035177"/>
            <a:ext cx="11082753" cy="4344994"/>
            <a:chOff x="0" y="-38100"/>
            <a:chExt cx="2932566" cy="1149743"/>
          </a:xfrm>
        </p:grpSpPr>
        <p:sp>
          <p:nvSpPr>
            <p:cNvPr id="316" name="Google Shape;316;p14"/>
            <p:cNvSpPr/>
            <p:nvPr/>
          </p:nvSpPr>
          <p:spPr>
            <a:xfrm>
              <a:off x="0" y="0"/>
              <a:ext cx="2932566" cy="1111643"/>
            </a:xfrm>
            <a:custGeom>
              <a:rect b="b" l="l" r="r" t="t"/>
              <a:pathLst>
                <a:path extrusionOk="0" h="1111643" w="2932566">
                  <a:moveTo>
                    <a:pt x="17311" y="0"/>
                  </a:moveTo>
                  <a:lnTo>
                    <a:pt x="2915255" y="0"/>
                  </a:lnTo>
                  <a:cubicBezTo>
                    <a:pt x="2919846" y="0"/>
                    <a:pt x="2924249" y="1824"/>
                    <a:pt x="2927496" y="5070"/>
                  </a:cubicBezTo>
                  <a:cubicBezTo>
                    <a:pt x="2930742" y="8317"/>
                    <a:pt x="2932566" y="12720"/>
                    <a:pt x="2932566" y="17311"/>
                  </a:cubicBezTo>
                  <a:lnTo>
                    <a:pt x="2932566" y="1094331"/>
                  </a:lnTo>
                  <a:cubicBezTo>
                    <a:pt x="2932566" y="1098923"/>
                    <a:pt x="2930742" y="1103326"/>
                    <a:pt x="2927496" y="1106572"/>
                  </a:cubicBezTo>
                  <a:cubicBezTo>
                    <a:pt x="2924249" y="1109819"/>
                    <a:pt x="2919846" y="1111643"/>
                    <a:pt x="2915255" y="1111643"/>
                  </a:cubicBezTo>
                  <a:lnTo>
                    <a:pt x="17311" y="1111643"/>
                  </a:lnTo>
                  <a:cubicBezTo>
                    <a:pt x="12720" y="1111643"/>
                    <a:pt x="8317" y="1109819"/>
                    <a:pt x="5070" y="1106572"/>
                  </a:cubicBezTo>
                  <a:cubicBezTo>
                    <a:pt x="1824" y="1103326"/>
                    <a:pt x="0" y="1098923"/>
                    <a:pt x="0" y="1094331"/>
                  </a:cubicBezTo>
                  <a:lnTo>
                    <a:pt x="0" y="17311"/>
                  </a:lnTo>
                  <a:cubicBezTo>
                    <a:pt x="0" y="12720"/>
                    <a:pt x="1824" y="8317"/>
                    <a:pt x="5070" y="5070"/>
                  </a:cubicBezTo>
                  <a:cubicBezTo>
                    <a:pt x="8317" y="1824"/>
                    <a:pt x="12720" y="0"/>
                    <a:pt x="17311" y="0"/>
                  </a:cubicBezTo>
                  <a:close/>
                </a:path>
              </a:pathLst>
            </a:custGeom>
            <a:solidFill>
              <a:srgbClr val="5666F8"/>
            </a:solidFill>
            <a:ln>
              <a:noFill/>
            </a:ln>
          </p:spPr>
          <p:txBody>
            <a:bodyPr anchorCtr="0" anchor="ctr" bIns="103000" lIns="103000" spcFirstLastPara="1" rIns="103000" wrap="square" tIns="10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 txBox="1"/>
            <p:nvPr/>
          </p:nvSpPr>
          <p:spPr>
            <a:xfrm>
              <a:off x="0" y="-38100"/>
              <a:ext cx="2932566" cy="1149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4"/>
          <p:cNvSpPr/>
          <p:nvPr/>
        </p:nvSpPr>
        <p:spPr>
          <a:xfrm>
            <a:off x="-139536" y="-549566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4"/>
          <p:cNvSpPr/>
          <p:nvPr/>
        </p:nvSpPr>
        <p:spPr>
          <a:xfrm>
            <a:off x="-1214315" y="47922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14"/>
          <p:cNvSpPr/>
          <p:nvPr/>
        </p:nvSpPr>
        <p:spPr>
          <a:xfrm>
            <a:off x="-1000792" y="-422617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4"/>
          <p:cNvSpPr/>
          <p:nvPr/>
        </p:nvSpPr>
        <p:spPr>
          <a:xfrm flipH="1" rot="10800000">
            <a:off x="-139536" y="9177967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14"/>
          <p:cNvSpPr/>
          <p:nvPr/>
        </p:nvSpPr>
        <p:spPr>
          <a:xfrm flipH="1" rot="10800000">
            <a:off x="-1214315" y="8234368"/>
            <a:ext cx="2789693" cy="1658599"/>
          </a:xfrm>
          <a:custGeom>
            <a:rect b="b" l="l" r="r" t="t"/>
            <a:pathLst>
              <a:path extrusionOk="0"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4"/>
          <p:cNvSpPr/>
          <p:nvPr/>
        </p:nvSpPr>
        <p:spPr>
          <a:xfrm flipH="1" rot="10800000">
            <a:off x="-1000792" y="9238143"/>
            <a:ext cx="2362646" cy="1404701"/>
          </a:xfrm>
          <a:custGeom>
            <a:rect b="b" l="l" r="r" t="t"/>
            <a:pathLst>
              <a:path extrusionOk="0"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4"/>
          <p:cNvSpPr/>
          <p:nvPr/>
        </p:nvSpPr>
        <p:spPr>
          <a:xfrm>
            <a:off x="1361844" y="1858399"/>
            <a:ext cx="670403" cy="703667"/>
          </a:xfrm>
          <a:custGeom>
            <a:rect b="b" l="l" r="r" t="t"/>
            <a:pathLst>
              <a:path extrusionOk="0"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4"/>
          <p:cNvSpPr txBox="1"/>
          <p:nvPr/>
        </p:nvSpPr>
        <p:spPr>
          <a:xfrm>
            <a:off x="2331976" y="1747325"/>
            <a:ext cx="73461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CONCLUSIÓN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213575" y="3619200"/>
            <a:ext cx="9891000" cy="3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El proyecto busca entregar una solución tecnológica que permita mejorar la gestión, comunicación y seguimiento del estado de los vehículos durante sus procesos de mantención, reparación o modificación.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El uso de la metodología Scrum permitirá desarrollar el proyecto de manera iterativa, priorizando las funcionalidades más importantes para construir un MVP funcional y posteriormente realizar mejoras a partir de las pruebas y validaciones realizadas.</a:t>
            </a:r>
            <a:endParaRPr sz="2800">
              <a:solidFill>
                <a:srgbClr val="F0F2F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5C69F5"/>
            </a:gs>
          </a:gsLst>
          <a:lin ang="2700006" scaled="0"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yber attack block, Cyber data, and Information privacy Concept. 3D Rendering. (proporcionado por Getty Images)" id="331" name="Google Shape;331;g3f4126c3dae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50" y="714803"/>
            <a:ext cx="17074898" cy="9102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g3f4126c3dae_0_114"/>
          <p:cNvGrpSpPr/>
          <p:nvPr/>
        </p:nvGrpSpPr>
        <p:grpSpPr>
          <a:xfrm>
            <a:off x="2475552" y="884050"/>
            <a:ext cx="7533126" cy="8374443"/>
            <a:chOff x="0" y="-38100"/>
            <a:chExt cx="2379007" cy="2205600"/>
          </a:xfrm>
        </p:grpSpPr>
        <p:sp>
          <p:nvSpPr>
            <p:cNvPr id="333" name="Google Shape;333;g3f4126c3dae_0_114"/>
            <p:cNvSpPr/>
            <p:nvPr/>
          </p:nvSpPr>
          <p:spPr>
            <a:xfrm>
              <a:off x="0" y="0"/>
              <a:ext cx="2379007" cy="2167467"/>
            </a:xfrm>
            <a:custGeom>
              <a:rect b="b" l="l" r="r" t="t"/>
              <a:pathLst>
                <a:path extrusionOk="0" h="2167467" w="2379007">
                  <a:moveTo>
                    <a:pt x="27427" y="0"/>
                  </a:moveTo>
                  <a:lnTo>
                    <a:pt x="2351580" y="0"/>
                  </a:lnTo>
                  <a:cubicBezTo>
                    <a:pt x="2366728" y="0"/>
                    <a:pt x="2379007" y="12279"/>
                    <a:pt x="2379007" y="27427"/>
                  </a:cubicBezTo>
                  <a:lnTo>
                    <a:pt x="2379007" y="2140040"/>
                  </a:lnTo>
                  <a:cubicBezTo>
                    <a:pt x="2379007" y="2155187"/>
                    <a:pt x="2366728" y="2167467"/>
                    <a:pt x="2351580" y="2167467"/>
                  </a:cubicBezTo>
                  <a:lnTo>
                    <a:pt x="27427" y="2167467"/>
                  </a:lnTo>
                  <a:cubicBezTo>
                    <a:pt x="12279" y="2167467"/>
                    <a:pt x="0" y="2155187"/>
                    <a:pt x="0" y="2140040"/>
                  </a:cubicBezTo>
                  <a:lnTo>
                    <a:pt x="0" y="27427"/>
                  </a:lnTo>
                  <a:cubicBezTo>
                    <a:pt x="0" y="12279"/>
                    <a:pt x="12279" y="0"/>
                    <a:pt x="27427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g3f4126c3dae_0_114"/>
            <p:cNvSpPr txBox="1"/>
            <p:nvPr/>
          </p:nvSpPr>
          <p:spPr>
            <a:xfrm>
              <a:off x="0" y="-38100"/>
              <a:ext cx="23790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g3f4126c3dae_0_114"/>
          <p:cNvSpPr txBox="1"/>
          <p:nvPr/>
        </p:nvSpPr>
        <p:spPr>
          <a:xfrm>
            <a:off x="3170551" y="4223900"/>
            <a:ext cx="61653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15193E"/>
                </a:solidFill>
                <a:latin typeface="Ultra"/>
                <a:ea typeface="Ultra"/>
                <a:cs typeface="Ultra"/>
                <a:sym typeface="Ultra"/>
              </a:rPr>
              <a:t>MUCHAS</a:t>
            </a:r>
            <a:endParaRPr/>
          </a:p>
        </p:txBody>
      </p:sp>
      <p:sp>
        <p:nvSpPr>
          <p:cNvPr id="336" name="Google Shape;336;g3f4126c3dae_0_114"/>
          <p:cNvSpPr txBox="1"/>
          <p:nvPr/>
        </p:nvSpPr>
        <p:spPr>
          <a:xfrm>
            <a:off x="3170550" y="5301925"/>
            <a:ext cx="49329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B02C"/>
                </a:solidFill>
                <a:latin typeface="Ultra"/>
                <a:ea typeface="Ultra"/>
                <a:cs typeface="Ultra"/>
                <a:sym typeface="Ultra"/>
              </a:rPr>
              <a:t>GRACIAS</a:t>
            </a:r>
            <a:endParaRPr/>
          </a:p>
        </p:txBody>
      </p:sp>
      <p:sp>
        <p:nvSpPr>
          <p:cNvPr id="337" name="Google Shape;337;g3f4126c3dae_0_114"/>
          <p:cNvSpPr/>
          <p:nvPr/>
        </p:nvSpPr>
        <p:spPr>
          <a:xfrm>
            <a:off x="1653028" y="535426"/>
            <a:ext cx="2726935" cy="1621287"/>
          </a:xfrm>
          <a:custGeom>
            <a:rect b="b" l="l" r="r" t="t"/>
            <a:pathLst>
              <a:path extrusionOk="0"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g3f4126c3dae_0_114"/>
          <p:cNvSpPr/>
          <p:nvPr/>
        </p:nvSpPr>
        <p:spPr>
          <a:xfrm>
            <a:off x="571156" y="1610537"/>
            <a:ext cx="2599390" cy="1545456"/>
          </a:xfrm>
          <a:custGeom>
            <a:rect b="b" l="l" r="r" t="t"/>
            <a:pathLst>
              <a:path extrusionOk="0"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